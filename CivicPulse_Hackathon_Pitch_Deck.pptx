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4754880" cy="457200"/>
          </a:xfrm>
          <a:prstGeom prst="roundRect">
            <a:avLst/>
          </a:prstGeom>
          <a:solidFill>
            <a:srgbClr val="312E8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C7D2FE"/>
                </a:solidFill>
              </a:defRPr>
            </a:pPr>
            <a:r>
              <a:t>⚡ Hacktoberfect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8FAFC"/>
                </a:solidFill>
              </a:defRPr>
            </a:pPr>
            <a:r>
              <a:t>CivicPulse</a:t>
            </a:r>
          </a:p>
          <a:p>
            <a:pPr>
              <a:defRPr sz="2200" b="0">
                <a:solidFill>
                  <a:srgbClr val="6366F1"/>
                </a:solidFill>
              </a:defRPr>
            </a:pPr>
            <a:r>
              <a:t>AI-Powered Civic Hazard Triage &amp; Hyperlocal Home Utility Marketplace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Built on Google's Gemma 4 Multimodal Architecture | Target Tracks: Open Source &amp; Best Use of Gemma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PROUDLY DEVELOPED BY TEAM: VERSION CONTROLLERS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840480"/>
            <a:ext cx="320040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3840480"/>
            <a:ext cx="3200400" cy="109728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2834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Ayush Chauhan</a:t>
            </a:r>
          </a:p>
          <a:p>
            <a:pPr>
              <a:defRPr sz="1400" b="1">
                <a:solidFill>
                  <a:srgbClr val="6366F1"/>
                </a:solidFill>
              </a:defRPr>
            </a:pPr>
            <a:r>
              <a:t>Team Leader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Team Version Controllers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3840480"/>
            <a:ext cx="320040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60" y="3840480"/>
            <a:ext cx="3200400" cy="109728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4114800"/>
            <a:ext cx="2834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Rishav Ranjan</a:t>
            </a:r>
          </a:p>
          <a:p>
            <a:pPr>
              <a:defRPr sz="1400" b="1">
                <a:solidFill>
                  <a:srgbClr val="8B5CF6"/>
                </a:solidFill>
              </a:defRPr>
            </a:pPr>
            <a:r>
              <a:t>Member 1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Team Version Controllers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840480"/>
            <a:ext cx="320040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3840480"/>
            <a:ext cx="3200400" cy="1097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114800"/>
            <a:ext cx="2834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Hardik Kumar</a:t>
            </a:r>
          </a:p>
          <a:p>
            <a:pPr>
              <a:defRPr sz="1400" b="1">
                <a:solidFill>
                  <a:srgbClr val="10B981"/>
                </a:solidFill>
              </a:defRPr>
            </a:pPr>
            <a:r>
              <a:t>Member 2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Team Version Controllers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32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8FAFC"/>
                </a:solidFill>
              </a:defRPr>
            </a:pPr>
            <a:r>
              <a:t>The Dual Crisis &amp; The CivicPulse Solution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Solving public infrastructure neglect and private home repair exploitation through multimodal AI.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493776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43F5E"/>
                </a:solidFill>
              </a:defRPr>
            </a:pPr>
            <a:r>
              <a:t>⚠️ THE PROBLEM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Bureaucratic Black Hole: </a:t>
            </a:r>
            <a:r>
              <a:rPr b="0">
                <a:solidFill>
                  <a:srgbClr val="94A3B8"/>
                </a:solidFill>
              </a:rPr>
              <a:t>Citizens encounter dangerous potholes, open junction boxes, or toxic waste, but don't know whether to notify PWD, Municipal Corp, or Electricity Board.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Jurisdiction Mismatch: </a:t>
            </a:r>
            <a:r>
              <a:rPr b="0">
                <a:solidFill>
                  <a:srgbClr val="94A3B8"/>
                </a:solidFill>
              </a:rPr>
              <a:t>Complaints are dismissed when citizens report National Highway or Railway hazards to city councils, causing weeks of inaction.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Home Utility Price Gouging: </a:t>
            </a:r>
            <a:r>
              <a:rPr b="0">
                <a:solidFill>
                  <a:srgbClr val="94A3B8"/>
                </a:solidFill>
              </a:rPr>
              <a:t>Homeowners lack technical knowledge, resulting in arbitrary inflated quotes from technicians and opaque material costs.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High Aggregator Commissions: </a:t>
            </a:r>
            <a:r>
              <a:rPr b="0">
                <a:solidFill>
                  <a:srgbClr val="94A3B8"/>
                </a:solidFill>
              </a:rPr>
              <a:t>Commercial platforms extract up to 25% from daily-wage technicians, driving up costs for consumers.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493776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✨ THE CIVICPULSE SOLUTION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✔ Gemma 4 Forensic Multimodal Triage: </a:t>
            </a:r>
            <a:r>
              <a:rPr b="0">
                <a:solidFill>
                  <a:srgbClr val="94A3B8"/>
                </a:solidFill>
              </a:rPr>
              <a:t>Citizens upload a single photo; Gemma 4 automatically classifies severity, municipal department, and remediation steps in seconds.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✔ Intelligent Jurisdictional Routing: </a:t>
            </a:r>
            <a:r>
              <a:rPr b="0">
                <a:solidFill>
                  <a:srgbClr val="94A3B8"/>
                </a:solidFill>
              </a:rPr>
              <a:t>Distinguishes local city mandates from central authorities (auto-generates direct escalation links to CPGRAMS, NHAI, RailMadad).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✔ AI Fair Price Estimation: </a:t>
            </a:r>
            <a:r>
              <a:rPr b="0">
                <a:solidFill>
                  <a:srgbClr val="94A3B8"/>
                </a:solidFill>
              </a:rPr>
              <a:t>Diagnoses household failures (plumbing, electrical, carpentry) and attaches an objective price bracket for labor and parts.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✔ Transparent Bargaining Engine: </a:t>
            </a:r>
            <a:r>
              <a:rPr b="0">
                <a:solidFill>
                  <a:srgbClr val="94A3B8"/>
                </a:solidFill>
              </a:rPr>
              <a:t>Technicians bid directly, homeowners counter-offer, and both lock fair rates with zero middleman commissions.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32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8FAFC"/>
                </a:solidFill>
              </a:defRPr>
            </a:pPr>
            <a:r>
              <a:t>How Gemma 4 Powers CivicPulse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Harnessing Google's open multimodal model for civic auditing and transparent local commerce.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32918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3291840" cy="73152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28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🔬 1. Zero-Shot Forensic Audit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Gemma 4 processes raw image bytes to assess hazard depth, physical risk, and structural failure with municipal engineer accuracy.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645920"/>
            <a:ext cx="32918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34840" y="1645920"/>
            <a:ext cx="3291840" cy="73152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🏛️ 2. Autonomous Escalation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Detects central vs city jurisdictions. Non-local issues auto-generate direct links to CPGRAMS, NHAI, and RailMadad portals.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645920"/>
            <a:ext cx="32918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79" y="1645920"/>
            <a:ext cx="3291840" cy="731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828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💰 3. Fair Price Bracketing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Analyzes broken appliances or plumbing fixtures to output standard Indian market cost brackets, stopping consumer price gouging.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69080"/>
            <a:ext cx="32918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069080"/>
            <a:ext cx="3291840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25196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🤝 4. Worker-Customer Bidding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Technicians place bids, homeowners counter-bid, and both lock in deals on an open, community-driven marketplace.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4069080"/>
            <a:ext cx="32918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4069080"/>
            <a:ext cx="3291840" cy="73152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25196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🤖 5. PulseBot Public Copilot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Real-time AI assistant answering civic governance procedures, emergency helplines, and project inquiries with live streaming.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4069080"/>
            <a:ext cx="32918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55279" y="4069080"/>
            <a:ext cx="3291840" cy="73152"/>
          </a:xfrm>
          <a:prstGeom prst="rect">
            <a:avLst/>
          </a:prstGeom>
          <a:solidFill>
            <a:srgbClr val="F43F5E"/>
          </a:solidFill>
          <a:ln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425196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⚡ 6. Resilient Fallback Cascade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99.9% uptime architecture cascading from Gemma 4 to Gemini Flash models if quota thresholds are exceeded.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32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8FAFC"/>
                </a:solidFill>
              </a:defRPr>
            </a:pPr>
            <a:r>
              <a:t>System Architecture &amp; Engineering Rigor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Production-grade, zero-bloat stack engineered for resilience, speed, and cross-platform accessibility.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2468880" cy="91440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28800"/>
            <a:ext cx="2194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366F1"/>
                </a:solidFill>
              </a:defRPr>
            </a:pPr>
            <a:r>
              <a:t>🎨 FRONTEND LAYER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Vanilla JS (ES6+) + Tailwind CSS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Zero JavaScript framework overhead (No bloated node_modules)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Instant DOM rendering &amp; interactive masonry grid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Animated laser scanner visual inspection effect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Edge-to-edge forensic evidence lightbox modal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8728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38728" y="1645920"/>
            <a:ext cx="2468880" cy="91440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8" y="1828800"/>
            <a:ext cx="2194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5CF6"/>
                </a:solidFill>
              </a:defRPr>
            </a:pPr>
            <a:r>
              <a:t>⚙️ BACKEND &amp; APIS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FastAPI (Python 3.9+) + Uvicorn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Asynchronous high-concurrency request processing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Pydantic v2 strict payload validation schemas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Multi-part binary image stream ingestion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Full CORS compliance &amp; static asset serving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3056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63056" y="1645920"/>
            <a:ext cx="2468880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1828800"/>
            <a:ext cx="2194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🧠 AI ORCHESTRATION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Gemma 4 (26B-A4B-IT) + GenAI SDK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Native multimodal image-byte inspection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Strict JSON schema generation with sanitizers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Resilient fallback cascade (Gemini 3.5/3.8 Flash)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Zero-latency failure isolation &amp; dynamic recovery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87384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87384" y="1645920"/>
            <a:ext cx="2468880" cy="9144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24544" y="1828800"/>
            <a:ext cx="2194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🗄️ PERSISTENCE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SQLite 3 (WAL Mode &amp; Relational Integrity)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Thread-safe connection pool with mutex locks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Write-Ahead Logging (WAL) for concurrent read/write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Relational foreign keys for posts, jobs &amp; bids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Auto-seeding test fixtures for instant demoing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32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8FAFC"/>
                </a:solidFill>
              </a:defRPr>
            </a:pPr>
            <a:r>
              <a:t>Future Roadmap: Scaling CivicPulse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High-impact features planned for our production deployment and urban expansion.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32720" cy="80467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109728" cy="804672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719072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366F1"/>
                </a:solidFill>
              </a:defRPr>
            </a:pPr>
            <a:r>
              <a:t>🚀 PHASE 1: DIRECT MUNICIPAL APIS  —  </a:t>
            </a:r>
            <a:r>
              <a:rPr b="1" sz="1300">
                <a:solidFill>
                  <a:srgbClr val="F8FAFC"/>
                </a:solidFill>
              </a:rPr>
              <a:t>Direct Integration with ULBs &amp; Smart Cities Mission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Connect directly into Urban Local Bodies (ULBs) and Smart Cities Mission grievance databases for auto-ticketing without human clerk delays.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596896"/>
            <a:ext cx="10332720" cy="80467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596896"/>
            <a:ext cx="109728" cy="804672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670048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5CF6"/>
                </a:solidFill>
              </a:defRPr>
            </a:pPr>
            <a:r>
              <a:t>📱 PHASE 2: ON-DEVICE EDGE GEMMA  —  </a:t>
            </a:r>
            <a:r>
              <a:rPr b="1" sz="1300">
                <a:solidFill>
                  <a:srgbClr val="F8FAFC"/>
                </a:solidFill>
              </a:rPr>
              <a:t>Quantized Offline Gemma on Mobile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Deploy quantized Gemma 2B directly on low-spec smartphones using MediaPipe, allowing citizens in rural or low-connectivity areas to audit issues offline.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547872"/>
            <a:ext cx="10332720" cy="80467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547872"/>
            <a:ext cx="109728" cy="80467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621024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🗣️ PHASE 3: VOICE-FIRST &amp; VERNACULAR BOT  —  </a:t>
            </a:r>
            <a:r>
              <a:rPr b="1" sz="1300">
                <a:solidFill>
                  <a:srgbClr val="F8FAFC"/>
                </a:solidFill>
              </a:rPr>
              <a:t>Multilingual Indian Voice Redressal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Integrate Bhashini open-source speech models to allow uneducated citizens and daily-wage workers to report hazards via voice in 12+ Indian languages.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498848"/>
            <a:ext cx="10332720" cy="80467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498848"/>
            <a:ext cx="109728" cy="80467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57200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💳 PHASE 4: UPI ESCROW &amp; CONTRACTS  —  </a:t>
            </a:r>
            <a:r>
              <a:rPr b="1" sz="1300">
                <a:solidFill>
                  <a:srgbClr val="F8FAFC"/>
                </a:solidFill>
              </a:rPr>
              <a:t>Milestone-Based Smart Payments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Introduce escrow payments: homeowner locks payment in UPI escrow; funds release only when Gemma 4 verifies the repair completion photo.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5449824"/>
            <a:ext cx="10332720" cy="80467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5449824"/>
            <a:ext cx="109728" cy="804672"/>
          </a:xfrm>
          <a:prstGeom prst="rect">
            <a:avLst/>
          </a:prstGeom>
          <a:solidFill>
            <a:srgbClr val="F43F5E"/>
          </a:solidFill>
          <a:ln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52297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3F5E"/>
                </a:solidFill>
              </a:defRPr>
            </a:pPr>
            <a:r>
              <a:t>🔮 PHASE 5: PREDICTIVE INFRASTRUCTURE  —  </a:t>
            </a:r>
            <a:r>
              <a:rPr b="1" sz="1300">
                <a:solidFill>
                  <a:srgbClr val="F8FAFC"/>
                </a:solidFill>
              </a:rPr>
              <a:t>Pre-Accident Deterioration Forecasting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Use time-series satellite and street camera feeds to predict which roads will collapse during monsoon before accidents happen.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