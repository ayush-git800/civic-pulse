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731520"/>
            <a:ext cx="4389120" cy="457200"/>
          </a:xfrm>
          <a:prstGeom prst="roundRect">
            <a:avLst/>
          </a:prstGeom>
          <a:solidFill>
            <a:srgbClr val="312E8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C7D2FE"/>
                </a:solidFill>
              </a:defRPr>
            </a:pPr>
            <a:r>
              <a:t>⚡ GOOGLE GEMMA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F8FAFC"/>
                </a:solidFill>
              </a:defRPr>
            </a:pPr>
            <a:r>
              <a:t>CivicPulse</a:t>
            </a:r>
          </a:p>
          <a:p>
            <a:pPr>
              <a:defRPr sz="2200" b="0">
                <a:solidFill>
                  <a:srgbClr val="6366F1"/>
                </a:solidFill>
              </a:defRPr>
            </a:pPr>
            <a:r>
              <a:t>AI-Powered Civic Hazard Triage &amp; Hyperlocal Home Utility Marketplace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Built on Google's Gemma 4 Multimodal Architecture | Target Tracks: Open Source &amp; Best Use of Gemma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91840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PROUDLY DEVELOPED BY TEAM: VERSION CONTROLLERS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749039"/>
            <a:ext cx="2377440" cy="228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3749039"/>
            <a:ext cx="2377440" cy="91440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931920"/>
            <a:ext cx="2103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8FAFC"/>
                </a:solidFill>
              </a:defRPr>
            </a:pPr>
            <a:r>
              <a:t>Ayush Chauhan</a:t>
            </a:r>
          </a:p>
          <a:p>
            <a:pPr>
              <a:defRPr sz="1200" b="1">
                <a:solidFill>
                  <a:srgbClr val="6366F1"/>
                </a:solidFill>
              </a:defRPr>
            </a:pPr>
            <a:r>
              <a:t>Full-Stack &amp; AI Lead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Gemma 4 pipeline, FastAPI backend, system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75304" y="3749039"/>
            <a:ext cx="2377440" cy="228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75304" y="3749039"/>
            <a:ext cx="2377440" cy="91440"/>
          </a:xfrm>
          <a:prstGeom prst="rect">
            <a:avLst/>
          </a:prstGeom>
          <a:solidFill>
            <a:srgbClr val="8B5CF6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12464" y="3931920"/>
            <a:ext cx="2103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8FAFC"/>
                </a:solidFill>
              </a:defRPr>
            </a:pPr>
            <a:r>
              <a:t>Rishav Ranjan</a:t>
            </a:r>
          </a:p>
          <a:p>
            <a:pPr>
              <a:defRPr sz="1200" b="1">
                <a:solidFill>
                  <a:srgbClr val="8B5CF6"/>
                </a:solidFill>
              </a:defRPr>
            </a:pPr>
            <a:r>
              <a:t>Backend &amp; Database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SQLite schema design, fallback cascades, REST APIs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3749039"/>
            <a:ext cx="2377440" cy="228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3749039"/>
            <a:ext cx="2377440" cy="91440"/>
          </a:xfrm>
          <a:prstGeom prst="rect">
            <a:avLst/>
          </a:prstGeom>
          <a:solidFill>
            <a:srgbClr val="F43F5E"/>
          </a:solidFill>
          <a:ln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368" y="3931920"/>
            <a:ext cx="2103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8FAFC"/>
                </a:solidFill>
              </a:defRPr>
            </a:pPr>
            <a:r>
              <a:t>Radhika Sahay</a:t>
            </a:r>
          </a:p>
          <a:p>
            <a:pPr>
              <a:defRPr sz="1200" b="1">
                <a:solidFill>
                  <a:srgbClr val="F43F5E"/>
                </a:solidFill>
              </a:defRPr>
            </a:pPr>
            <a:r>
              <a:t>Frontend &amp; UI/UX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Responsive design, micro-animations, citizen UX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97112" y="3749039"/>
            <a:ext cx="2377440" cy="2286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897112" y="3749039"/>
            <a:ext cx="2377440" cy="9144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34272" y="3931920"/>
            <a:ext cx="2103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8FAFC"/>
                </a:solidFill>
              </a:defRPr>
            </a:pPr>
            <a:r>
              <a:t>Hardik Kumar</a:t>
            </a:r>
          </a:p>
          <a:p>
            <a:pPr>
              <a:defRPr sz="1200" b="1">
                <a:solidFill>
                  <a:srgbClr val="F59E0B"/>
                </a:solidFill>
              </a:defRPr>
            </a:pPr>
            <a:r>
              <a:t>AI Data &amp; QA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Multimodal prompt engineering, edge testing, validation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3327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8FAFC"/>
                </a:solidFill>
              </a:defRPr>
            </a:pPr>
            <a:r>
              <a:t>The Dual Crisis &amp; The CivicPulse Solution</a:t>
            </a:r>
          </a:p>
          <a:p>
            <a:pPr>
              <a:defRPr sz="1500">
                <a:solidFill>
                  <a:srgbClr val="94A3B8"/>
                </a:solidFill>
              </a:defRPr>
            </a:pPr>
            <a:r>
              <a:t>Solving public infrastructure neglect and private home repair exploitation through multimodal AI.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493776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43F5E"/>
                </a:solidFill>
              </a:defRPr>
            </a:pPr>
            <a:r>
              <a:t>⚠️ THE PROBLEM</a:t>
            </a:r>
          </a:p>
          <a:p>
            <a:pPr>
              <a:defRPr b="1" sz="1200">
                <a:solidFill>
                  <a:srgbClr val="F8FAFC"/>
                </a:solidFill>
              </a:defRPr>
            </a:pPr>
            <a:r>
              <a:t>• Bureaucratic Black Hole: </a:t>
            </a:r>
            <a:r>
              <a:rPr b="0">
                <a:solidFill>
                  <a:srgbClr val="94A3B8"/>
                </a:solidFill>
              </a:rPr>
              <a:t>Citizens encounter dangerous potholes, open junction boxes, or toxic waste, but don't know whether to notify PWD, Municipal Corp, or Electricity Board.</a:t>
            </a:r>
          </a:p>
          <a:p>
            <a:pPr>
              <a:defRPr b="1" sz="1200">
                <a:solidFill>
                  <a:srgbClr val="F8FAFC"/>
                </a:solidFill>
              </a:defRPr>
            </a:pPr>
            <a:r>
              <a:t>• Jurisdiction Mismatch: </a:t>
            </a:r>
            <a:r>
              <a:rPr b="0">
                <a:solidFill>
                  <a:srgbClr val="94A3B8"/>
                </a:solidFill>
              </a:rPr>
              <a:t>Complaints are dismissed when citizens report National Highway or Railway hazards to city councils, causing weeks of inaction.</a:t>
            </a:r>
          </a:p>
          <a:p>
            <a:pPr>
              <a:defRPr b="1" sz="1200">
                <a:solidFill>
                  <a:srgbClr val="F8FAFC"/>
                </a:solidFill>
              </a:defRPr>
            </a:pPr>
            <a:r>
              <a:t>• Home Utility Price Gouging: </a:t>
            </a:r>
            <a:r>
              <a:rPr b="0">
                <a:solidFill>
                  <a:srgbClr val="94A3B8"/>
                </a:solidFill>
              </a:rPr>
              <a:t>Homeowners lack technical knowledge, resulting in arbitrary inflated quotes from technicians and opaque material costs.</a:t>
            </a:r>
          </a:p>
          <a:p>
            <a:pPr>
              <a:defRPr b="1" sz="1200">
                <a:solidFill>
                  <a:srgbClr val="F8FAFC"/>
                </a:solidFill>
              </a:defRPr>
            </a:pPr>
            <a:r>
              <a:t>• High Aggregator Commissions: </a:t>
            </a:r>
            <a:r>
              <a:rPr b="0">
                <a:solidFill>
                  <a:srgbClr val="94A3B8"/>
                </a:solidFill>
              </a:rPr>
              <a:t>Commercial platforms extract up to 25% from daily-wage technicians, driving up costs for consumers.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493776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82880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B981"/>
                </a:solidFill>
              </a:defRPr>
            </a:pPr>
            <a:r>
              <a:t>✨ THE CIVICPULSE SOLUTION</a:t>
            </a:r>
          </a:p>
          <a:p>
            <a:pPr>
              <a:defRPr b="1" sz="1200">
                <a:solidFill>
                  <a:srgbClr val="F8FAFC"/>
                </a:solidFill>
              </a:defRPr>
            </a:pPr>
            <a:r>
              <a:t>✔ Gemma 4 Forensic Multimodal Triage: </a:t>
            </a:r>
            <a:r>
              <a:rPr b="0">
                <a:solidFill>
                  <a:srgbClr val="94A3B8"/>
                </a:solidFill>
              </a:rPr>
              <a:t>Citizens upload a single photo; Gemma 4 automatically classifies severity, municipal department, and remediation steps in seconds.</a:t>
            </a:r>
          </a:p>
          <a:p>
            <a:pPr>
              <a:defRPr b="1" sz="1200">
                <a:solidFill>
                  <a:srgbClr val="F8FAFC"/>
                </a:solidFill>
              </a:defRPr>
            </a:pPr>
            <a:r>
              <a:t>✔ Intelligent Jurisdictional Routing: </a:t>
            </a:r>
            <a:r>
              <a:rPr b="0">
                <a:solidFill>
                  <a:srgbClr val="94A3B8"/>
                </a:solidFill>
              </a:rPr>
              <a:t>Distinguishes local city mandates from central authorities (auto-generates direct escalation links to CPGRAMS, NHAI, RailMadad).</a:t>
            </a:r>
          </a:p>
          <a:p>
            <a:pPr>
              <a:defRPr b="1" sz="1200">
                <a:solidFill>
                  <a:srgbClr val="F8FAFC"/>
                </a:solidFill>
              </a:defRPr>
            </a:pPr>
            <a:r>
              <a:t>✔ AI Fair Price Estimation: </a:t>
            </a:r>
            <a:r>
              <a:rPr b="0">
                <a:solidFill>
                  <a:srgbClr val="94A3B8"/>
                </a:solidFill>
              </a:rPr>
              <a:t>Diagnoses household failures (plumbing, electrical, carpentry) and attaches an objective price bracket for labor and parts.</a:t>
            </a:r>
          </a:p>
          <a:p>
            <a:pPr>
              <a:defRPr b="1" sz="1200">
                <a:solidFill>
                  <a:srgbClr val="F8FAFC"/>
                </a:solidFill>
              </a:defRPr>
            </a:pPr>
            <a:r>
              <a:t>✔ Transparent Bargaining Engine: </a:t>
            </a:r>
            <a:r>
              <a:rPr b="0">
                <a:solidFill>
                  <a:srgbClr val="94A3B8"/>
                </a:solidFill>
              </a:rPr>
              <a:t>Technicians bid directly, homeowners counter-offer, and both lock fair rates with zero middleman commissions.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3327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8FAFC"/>
                </a:solidFill>
              </a:defRPr>
            </a:pPr>
            <a:r>
              <a:t>How Gemma 4 Powers CivicPulse</a:t>
            </a:r>
          </a:p>
          <a:p>
            <a:pPr>
              <a:defRPr sz="1500">
                <a:solidFill>
                  <a:srgbClr val="94A3B8"/>
                </a:solidFill>
              </a:defRPr>
            </a:pPr>
            <a:r>
              <a:t>Harnessing Google's open multimodal model for civic auditing and transparent local commerce.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329184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645920"/>
            <a:ext cx="3291840" cy="73152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82880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</a:defRPr>
            </a:pPr>
            <a:r>
              <a:t>🔬 1. Zero-Shot Forensic Audit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Gemma 4 processes raw image bytes to assess hazard depth, physical risk, and structural failure with municipal engineer accuracy.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645920"/>
            <a:ext cx="329184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434840" y="1645920"/>
            <a:ext cx="3291840" cy="73152"/>
          </a:xfrm>
          <a:prstGeom prst="rect">
            <a:avLst/>
          </a:prstGeom>
          <a:solidFill>
            <a:srgbClr val="8B5CF6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82880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</a:defRPr>
            </a:pPr>
            <a:r>
              <a:t>🏛️ 2. Autonomous Escalation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Detects central vs city jurisdictions. Non-local issues auto-generate direct links to CPGRAMS, NHAI, and RailMadad portals.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1645920"/>
            <a:ext cx="329184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79" y="1645920"/>
            <a:ext cx="3291840" cy="731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182880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</a:defRPr>
            </a:pPr>
            <a:r>
              <a:t>💰 3. Fair Price Bracketing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Analyzes broken appliances or plumbing fixtures to output standard Indian market cost brackets, stopping consumer price gouging.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069080"/>
            <a:ext cx="329184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4069080"/>
            <a:ext cx="3291840" cy="7315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25196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</a:defRPr>
            </a:pPr>
            <a:r>
              <a:t>🤝 4. Worker-Customer Bidding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Technicians place bids, homeowners counter-bid, and both lock in deals on an open, community-driven marketplace.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40" y="4069080"/>
            <a:ext cx="329184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34840" y="4069080"/>
            <a:ext cx="3291840" cy="73152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425196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</a:defRPr>
            </a:pPr>
            <a:r>
              <a:t>🤖 5. PulseBot Public Copilot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Real-time AI assistant answering civic governance procedures, emergency helplines, and project inquiries with live streaming.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4069080"/>
            <a:ext cx="329184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55279" y="4069080"/>
            <a:ext cx="3291840" cy="73152"/>
          </a:xfrm>
          <a:prstGeom prst="rect">
            <a:avLst/>
          </a:prstGeom>
          <a:solidFill>
            <a:srgbClr val="F43F5E"/>
          </a:solidFill>
          <a:ln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92440" y="425196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</a:defRPr>
            </a:pPr>
            <a:r>
              <a:t>⚡ 6. Resilient Fallback Cascade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99.9% uptime architecture cascading from Gemma 4 to Gemini Flash models if quota thresholds are exceeded.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3327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8FAFC"/>
                </a:solidFill>
              </a:defRPr>
            </a:pPr>
            <a:r>
              <a:t>System Architecture &amp; Engineering Rigor</a:t>
            </a:r>
          </a:p>
          <a:p>
            <a:pPr>
              <a:defRPr sz="1500">
                <a:solidFill>
                  <a:srgbClr val="94A3B8"/>
                </a:solidFill>
              </a:defRPr>
            </a:pPr>
            <a:r>
              <a:t>Production-grade, zero-bloat stack engineered for resilience, speed, and cross-platform accessibility.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24688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645920"/>
            <a:ext cx="2468880" cy="91440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828800"/>
            <a:ext cx="21945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366F1"/>
                </a:solidFill>
              </a:defRPr>
            </a:pPr>
            <a:r>
              <a:t>🎨 FRONTEND LAYER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Vanilla JS (ES6+) + Tailwind CSS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Zero JavaScript framework overhead (No bloated node_modules)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Instant DOM rendering &amp; interactive masonry grid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Animated laser scanner visual inspection effect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Edge-to-edge forensic evidence lightbox modal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38728" y="1645920"/>
            <a:ext cx="24688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538728" y="1645920"/>
            <a:ext cx="2468880" cy="91440"/>
          </a:xfrm>
          <a:prstGeom prst="rect">
            <a:avLst/>
          </a:prstGeom>
          <a:solidFill>
            <a:srgbClr val="8B5CF6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75888" y="1828800"/>
            <a:ext cx="21945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8B5CF6"/>
                </a:solidFill>
              </a:defRPr>
            </a:pPr>
            <a:r>
              <a:t>⚙️ BACKEND &amp; APIS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FastAPI (Python 3.9+) + Uvicorn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Asynchronous high-concurrency request processing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Pydantic v2 strict payload validation schemas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Multi-part binary image stream ingestion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Full CORS compliance &amp; static asset serving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63056" y="1645920"/>
            <a:ext cx="24688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63056" y="1645920"/>
            <a:ext cx="2468880" cy="914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216" y="1828800"/>
            <a:ext cx="21945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🧠 AI ORCHESTRATION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Gemma 4 (26B-A4B-IT) + GenAI SDK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Native multimodal image-byte inspection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Strict JSON schema generation with sanitizers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Resilient fallback cascade (Gemini 3.5/3.8 Flash)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Zero-latency failure isolation &amp; dynamic recovery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87384" y="1645920"/>
            <a:ext cx="24688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787384" y="1645920"/>
            <a:ext cx="2468880" cy="9144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24544" y="1828800"/>
            <a:ext cx="21945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🗄️ PERSISTENCE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SQLite 3 (WAL Mode &amp; Relational Integrity)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Thread-safe connection pool with mutex locks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Write-Ahead Logging (WAL) for concurrent read/write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Relational foreign keys for posts, jobs &amp; bids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Auto-seeding test fixtures for instant demoing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3327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8FAFC"/>
                </a:solidFill>
              </a:defRPr>
            </a:pPr>
            <a:r>
              <a:t>Future Roadmap: Scaling CivicPulse</a:t>
            </a:r>
          </a:p>
          <a:p>
            <a:pPr>
              <a:defRPr sz="1500">
                <a:solidFill>
                  <a:srgbClr val="94A3B8"/>
                </a:solidFill>
              </a:defRPr>
            </a:pPr>
            <a:r>
              <a:t>High-impact features planned for our production deployment and urban expansion.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10332720" cy="804672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645920"/>
            <a:ext cx="109728" cy="804672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719072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366F1"/>
                </a:solidFill>
              </a:defRPr>
            </a:pPr>
            <a:r>
              <a:t>🚀 PHASE 1: DIRECT MUNICIPAL APIS  —  </a:t>
            </a:r>
            <a:r>
              <a:rPr b="1" sz="1300">
                <a:solidFill>
                  <a:srgbClr val="F8FAFC"/>
                </a:solidFill>
              </a:rPr>
              <a:t>Direct Integration with ULBs &amp; Smart Cities Mission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Connect directly into Urban Local Bodies (ULBs) and Smart Cities Mission grievance databases for auto-ticketing without human clerk delays.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596896"/>
            <a:ext cx="10332720" cy="804672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596896"/>
            <a:ext cx="109728" cy="804672"/>
          </a:xfrm>
          <a:prstGeom prst="rect">
            <a:avLst/>
          </a:prstGeom>
          <a:solidFill>
            <a:srgbClr val="8B5CF6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670048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8B5CF6"/>
                </a:solidFill>
              </a:defRPr>
            </a:pPr>
            <a:r>
              <a:t>📱 PHASE 2: ON-DEVICE EDGE GEMMA  —  </a:t>
            </a:r>
            <a:r>
              <a:rPr b="1" sz="1300">
                <a:solidFill>
                  <a:srgbClr val="F8FAFC"/>
                </a:solidFill>
              </a:rPr>
              <a:t>Quantized Offline Gemma on Mobile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Deploy quantized Gemma 2B directly on low-spec smartphones using MediaPipe, allowing citizens in rural or low-connectivity areas to audit issues offline.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547872"/>
            <a:ext cx="10332720" cy="804672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3547872"/>
            <a:ext cx="109728" cy="80467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621024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🗣️ PHASE 3: VOICE-FIRST &amp; VERNACULAR BOT  —  </a:t>
            </a:r>
            <a:r>
              <a:rPr b="1" sz="1300">
                <a:solidFill>
                  <a:srgbClr val="F8FAFC"/>
                </a:solidFill>
              </a:rPr>
              <a:t>Multilingual Indian Voice Redressal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Integrate Bhashini open-source speech models to allow uneducated citizens and daily-wage workers to report hazards via voice in 12+ Indian languages.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498848"/>
            <a:ext cx="10332720" cy="804672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4498848"/>
            <a:ext cx="109728" cy="80467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4572000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💳 PHASE 4: UPI ESCROW &amp; CONTRACTS  —  </a:t>
            </a:r>
            <a:r>
              <a:rPr b="1" sz="1300">
                <a:solidFill>
                  <a:srgbClr val="F8FAFC"/>
                </a:solidFill>
              </a:rPr>
              <a:t>Milestone-Based Smart Payments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Introduce escrow payments: homeowner locks payment in UPI escrow; funds release only when Gemma 4 verifies the repair completion photo.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5449824"/>
            <a:ext cx="10332720" cy="804672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5449824"/>
            <a:ext cx="109728" cy="804672"/>
          </a:xfrm>
          <a:prstGeom prst="rect">
            <a:avLst/>
          </a:prstGeom>
          <a:solidFill>
            <a:srgbClr val="F43F5E"/>
          </a:solidFill>
          <a:ln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5522976"/>
            <a:ext cx="9875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43F5E"/>
                </a:solidFill>
              </a:defRPr>
            </a:pPr>
            <a:r>
              <a:t>🔮 PHASE 5: PREDICTIVE INFRASTRUCTURE  —  </a:t>
            </a:r>
            <a:r>
              <a:rPr b="1" sz="1300">
                <a:solidFill>
                  <a:srgbClr val="F8FAFC"/>
                </a:solidFill>
              </a:rPr>
              <a:t>Pre-Accident Deterioration Forecasting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Use time-series satellite and street camera feeds to predict which roads will collapse during monsoon before accidents happen.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